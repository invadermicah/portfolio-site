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43434000" cy="3246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>
        <p:scale>
          <a:sx n="14" d="100"/>
          <a:sy n="14" d="100"/>
        </p:scale>
        <p:origin x="13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798572-46A9-4B4D-92CF-1C533AC5B7CF}" type="doc">
      <dgm:prSet loTypeId="urn:microsoft.com/office/officeart/2005/8/layout/hProcess9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719CD572-76FC-4862-A7C3-00E8CEE2C815}">
      <dgm:prSet phldrT="[Text]" custT="1"/>
      <dgm:spPr/>
      <dgm:t>
        <a:bodyPr/>
        <a:lstStyle/>
        <a:p>
          <a:r>
            <a:rPr lang="en-US" sz="4000" dirty="0">
              <a:latin typeface="Times New Roman" panose="02020603050405020304" pitchFamily="18" charset="0"/>
              <a:cs typeface="Times New Roman" panose="02020603050405020304" pitchFamily="18" charset="0"/>
            </a:rPr>
            <a:t>Pull 9 million+ IMDb and Amazon movie ratings</a:t>
          </a:r>
          <a:endParaRPr lang="en-US" sz="4000" dirty="0"/>
        </a:p>
      </dgm:t>
    </dgm:pt>
    <dgm:pt modelId="{413DAC66-FD99-4C13-B3BA-7666EF11FDAF}" type="parTrans" cxnId="{53B0AB15-F65A-42E4-B615-61E044C93ABA}">
      <dgm:prSet/>
      <dgm:spPr/>
      <dgm:t>
        <a:bodyPr/>
        <a:lstStyle/>
        <a:p>
          <a:endParaRPr lang="en-US" sz="2000"/>
        </a:p>
      </dgm:t>
    </dgm:pt>
    <dgm:pt modelId="{2551FE77-AB02-4747-BD91-C9D6E93A9706}" type="sibTrans" cxnId="{53B0AB15-F65A-42E4-B615-61E044C93ABA}">
      <dgm:prSet/>
      <dgm:spPr/>
      <dgm:t>
        <a:bodyPr/>
        <a:lstStyle/>
        <a:p>
          <a:endParaRPr lang="en-US" sz="2000"/>
        </a:p>
      </dgm:t>
    </dgm:pt>
    <dgm:pt modelId="{2F7321F1-705D-4655-898F-0367B67CB59D}">
      <dgm:prSet custT="1"/>
      <dgm:spPr/>
      <dgm:t>
        <a:bodyPr/>
        <a:lstStyle/>
        <a:p>
          <a:r>
            <a:rPr lang="en-US" sz="4000" dirty="0">
              <a:latin typeface="Times New Roman" panose="02020603050405020304" pitchFamily="18" charset="0"/>
              <a:cs typeface="Times New Roman" panose="02020603050405020304" pitchFamily="18" charset="0"/>
            </a:rPr>
            <a:t>Filter out titles with less than 50 reviews</a:t>
          </a:r>
        </a:p>
      </dgm:t>
    </dgm:pt>
    <dgm:pt modelId="{3C9E9328-258F-4FDC-B433-D25A773C68AC}" type="parTrans" cxnId="{96E90354-4225-41AF-801D-0B1EA7A54ECB}">
      <dgm:prSet/>
      <dgm:spPr/>
      <dgm:t>
        <a:bodyPr/>
        <a:lstStyle/>
        <a:p>
          <a:endParaRPr lang="en-US" sz="2000"/>
        </a:p>
      </dgm:t>
    </dgm:pt>
    <dgm:pt modelId="{B39479F5-5FA6-4866-BD5C-A768962532A2}" type="sibTrans" cxnId="{96E90354-4225-41AF-801D-0B1EA7A54ECB}">
      <dgm:prSet/>
      <dgm:spPr/>
      <dgm:t>
        <a:bodyPr/>
        <a:lstStyle/>
        <a:p>
          <a:endParaRPr lang="en-US" sz="2000"/>
        </a:p>
      </dgm:t>
    </dgm:pt>
    <dgm:pt modelId="{3E426A95-757E-40A2-8418-982E0BD014F8}">
      <dgm:prSet custT="1"/>
      <dgm:spPr/>
      <dgm:t>
        <a:bodyPr/>
        <a:lstStyle/>
        <a:p>
          <a:r>
            <a:rPr lang="en-US" sz="4000" dirty="0">
              <a:latin typeface="Times New Roman" panose="02020603050405020304" pitchFamily="18" charset="0"/>
              <a:cs typeface="Times New Roman" panose="02020603050405020304" pitchFamily="18" charset="0"/>
            </a:rPr>
            <a:t>Use the VADER tool to perform sentiment analysis on written reviews</a:t>
          </a:r>
        </a:p>
      </dgm:t>
    </dgm:pt>
    <dgm:pt modelId="{4E2D20AA-87BA-47CA-995F-FD1637362683}" type="parTrans" cxnId="{02F15AF5-18B9-4DC3-BDC0-7F7135840561}">
      <dgm:prSet/>
      <dgm:spPr/>
      <dgm:t>
        <a:bodyPr/>
        <a:lstStyle/>
        <a:p>
          <a:endParaRPr lang="en-US" sz="2000"/>
        </a:p>
      </dgm:t>
    </dgm:pt>
    <dgm:pt modelId="{757EB7A5-69C1-4632-B92F-B5F99F1326CE}" type="sibTrans" cxnId="{02F15AF5-18B9-4DC3-BDC0-7F7135840561}">
      <dgm:prSet/>
      <dgm:spPr/>
      <dgm:t>
        <a:bodyPr/>
        <a:lstStyle/>
        <a:p>
          <a:endParaRPr lang="en-US" sz="2000"/>
        </a:p>
      </dgm:t>
    </dgm:pt>
    <dgm:pt modelId="{ED4DC5FD-8506-4104-987D-00BEEBD9D414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4000" dirty="0">
              <a:latin typeface="Times New Roman" panose="02020603050405020304" pitchFamily="18" charset="0"/>
              <a:cs typeface="Times New Roman" panose="02020603050405020304" pitchFamily="18" charset="0"/>
            </a:rPr>
            <a:t>Compare normalized sentiment scores with actual reviews to identify underrated films</a:t>
          </a:r>
        </a:p>
      </dgm:t>
    </dgm:pt>
    <dgm:pt modelId="{4B4FE80E-A2AB-4DAC-B958-333DDF209B4C}" type="parTrans" cxnId="{7BC51CB7-E3EF-4B4E-881A-6544C15939BA}">
      <dgm:prSet/>
      <dgm:spPr/>
      <dgm:t>
        <a:bodyPr/>
        <a:lstStyle/>
        <a:p>
          <a:endParaRPr lang="en-US" sz="2000"/>
        </a:p>
      </dgm:t>
    </dgm:pt>
    <dgm:pt modelId="{4F925224-9F52-49F7-BE81-DE895EC9AE22}" type="sibTrans" cxnId="{7BC51CB7-E3EF-4B4E-881A-6544C15939BA}">
      <dgm:prSet/>
      <dgm:spPr/>
      <dgm:t>
        <a:bodyPr/>
        <a:lstStyle/>
        <a:p>
          <a:endParaRPr lang="en-US" sz="2000"/>
        </a:p>
      </dgm:t>
    </dgm:pt>
    <dgm:pt modelId="{8DCBF260-0C77-4AD5-8E9E-D968810B2114}">
      <dgm:prSet custT="1"/>
      <dgm:spPr/>
      <dgm:t>
        <a:bodyPr/>
        <a:lstStyle/>
        <a:p>
          <a:r>
            <a:rPr lang="en-US" sz="4000" dirty="0">
              <a:latin typeface="Times New Roman" panose="02020603050405020304" pitchFamily="18" charset="0"/>
              <a:cs typeface="Times New Roman" panose="02020603050405020304" pitchFamily="18" charset="0"/>
            </a:rPr>
            <a:t>Create a hybrid ranking using a weighted combination of the two review methods to identify top overall films</a:t>
          </a:r>
        </a:p>
      </dgm:t>
    </dgm:pt>
    <dgm:pt modelId="{0475F5FD-CB77-4BE0-97DE-062AE42DF6A3}" type="parTrans" cxnId="{8C267F95-1619-4781-87E8-74D52A9BD6FA}">
      <dgm:prSet/>
      <dgm:spPr/>
      <dgm:t>
        <a:bodyPr/>
        <a:lstStyle/>
        <a:p>
          <a:endParaRPr lang="en-US" sz="2000"/>
        </a:p>
      </dgm:t>
    </dgm:pt>
    <dgm:pt modelId="{8199C5E7-0E36-4560-A232-489ACE87197F}" type="sibTrans" cxnId="{8C267F95-1619-4781-87E8-74D52A9BD6FA}">
      <dgm:prSet/>
      <dgm:spPr/>
      <dgm:t>
        <a:bodyPr/>
        <a:lstStyle/>
        <a:p>
          <a:endParaRPr lang="en-US" sz="2000"/>
        </a:p>
      </dgm:t>
    </dgm:pt>
    <dgm:pt modelId="{102DD8DB-A6F7-4514-BEF8-20162001BECA}">
      <dgm:prSet custT="1"/>
      <dgm:spPr/>
      <dgm:t>
        <a:bodyPr/>
        <a:lstStyle/>
        <a:p>
          <a:r>
            <a:rPr lang="en-US" sz="4000" dirty="0">
              <a:latin typeface="Times New Roman" panose="02020603050405020304" pitchFamily="18" charset="0"/>
              <a:cs typeface="Times New Roman" panose="02020603050405020304" pitchFamily="18" charset="0"/>
            </a:rPr>
            <a:t>Compare correlation of the two rating systems, identify trends in genres and release year using linear regression</a:t>
          </a:r>
        </a:p>
      </dgm:t>
    </dgm:pt>
    <dgm:pt modelId="{7F1F820A-4827-48C0-93BF-017B4AA972EE}" type="parTrans" cxnId="{F276AF3C-D609-4F60-B708-56DE3A9643B1}">
      <dgm:prSet/>
      <dgm:spPr/>
      <dgm:t>
        <a:bodyPr/>
        <a:lstStyle/>
        <a:p>
          <a:endParaRPr lang="en-US" sz="2000"/>
        </a:p>
      </dgm:t>
    </dgm:pt>
    <dgm:pt modelId="{B8EEE547-BCB1-4A24-8711-9AD3B4D5E5BA}" type="sibTrans" cxnId="{F276AF3C-D609-4F60-B708-56DE3A9643B1}">
      <dgm:prSet/>
      <dgm:spPr/>
      <dgm:t>
        <a:bodyPr/>
        <a:lstStyle/>
        <a:p>
          <a:endParaRPr lang="en-US" sz="2000"/>
        </a:p>
      </dgm:t>
    </dgm:pt>
    <dgm:pt modelId="{E8095DA7-0774-44A8-9D2B-D23D07A36163}" type="pres">
      <dgm:prSet presAssocID="{43798572-46A9-4B4D-92CF-1C533AC5B7CF}" presName="CompostProcess" presStyleCnt="0">
        <dgm:presLayoutVars>
          <dgm:dir/>
          <dgm:resizeHandles val="exact"/>
        </dgm:presLayoutVars>
      </dgm:prSet>
      <dgm:spPr/>
    </dgm:pt>
    <dgm:pt modelId="{7FA17414-9D82-4167-BAF9-0699558C8CDF}" type="pres">
      <dgm:prSet presAssocID="{43798572-46A9-4B4D-92CF-1C533AC5B7CF}" presName="arrow" presStyleLbl="bgShp" presStyleIdx="0" presStyleCnt="1"/>
      <dgm:spPr/>
    </dgm:pt>
    <dgm:pt modelId="{D99DCE99-23FA-47C5-B0F5-A58A77808EFA}" type="pres">
      <dgm:prSet presAssocID="{43798572-46A9-4B4D-92CF-1C533AC5B7CF}" presName="linearProcess" presStyleCnt="0"/>
      <dgm:spPr/>
    </dgm:pt>
    <dgm:pt modelId="{591DDDAC-E704-4430-817D-2D593FDF21ED}" type="pres">
      <dgm:prSet presAssocID="{719CD572-76FC-4862-A7C3-00E8CEE2C815}" presName="textNode" presStyleLbl="node1" presStyleIdx="0" presStyleCnt="6">
        <dgm:presLayoutVars>
          <dgm:bulletEnabled val="1"/>
        </dgm:presLayoutVars>
      </dgm:prSet>
      <dgm:spPr/>
    </dgm:pt>
    <dgm:pt modelId="{BC3D07E1-9015-4FDE-B3A3-9A912D20C4C0}" type="pres">
      <dgm:prSet presAssocID="{2551FE77-AB02-4747-BD91-C9D6E93A9706}" presName="sibTrans" presStyleCnt="0"/>
      <dgm:spPr/>
    </dgm:pt>
    <dgm:pt modelId="{6C0913B0-D6CC-467B-B3BD-3E5E71F5DC5A}" type="pres">
      <dgm:prSet presAssocID="{2F7321F1-705D-4655-898F-0367B67CB59D}" presName="textNode" presStyleLbl="node1" presStyleIdx="1" presStyleCnt="6">
        <dgm:presLayoutVars>
          <dgm:bulletEnabled val="1"/>
        </dgm:presLayoutVars>
      </dgm:prSet>
      <dgm:spPr/>
    </dgm:pt>
    <dgm:pt modelId="{4447DFD7-9CE7-45E0-BC8B-27265247D12B}" type="pres">
      <dgm:prSet presAssocID="{B39479F5-5FA6-4866-BD5C-A768962532A2}" presName="sibTrans" presStyleCnt="0"/>
      <dgm:spPr/>
    </dgm:pt>
    <dgm:pt modelId="{A04B441D-4EA4-47EE-BFC7-B5DDA47DF574}" type="pres">
      <dgm:prSet presAssocID="{3E426A95-757E-40A2-8418-982E0BD014F8}" presName="textNode" presStyleLbl="node1" presStyleIdx="2" presStyleCnt="6">
        <dgm:presLayoutVars>
          <dgm:bulletEnabled val="1"/>
        </dgm:presLayoutVars>
      </dgm:prSet>
      <dgm:spPr/>
    </dgm:pt>
    <dgm:pt modelId="{44703190-DED5-40E3-9D65-A134E6C5FF8B}" type="pres">
      <dgm:prSet presAssocID="{757EB7A5-69C1-4632-B92F-B5F99F1326CE}" presName="sibTrans" presStyleCnt="0"/>
      <dgm:spPr/>
    </dgm:pt>
    <dgm:pt modelId="{B1308EFA-3723-4E3E-90BE-BBD28CAAC08F}" type="pres">
      <dgm:prSet presAssocID="{ED4DC5FD-8506-4104-987D-00BEEBD9D414}" presName="textNode" presStyleLbl="node1" presStyleIdx="3" presStyleCnt="6" custScaleX="121045" custScaleY="113104">
        <dgm:presLayoutVars>
          <dgm:bulletEnabled val="1"/>
        </dgm:presLayoutVars>
      </dgm:prSet>
      <dgm:spPr/>
    </dgm:pt>
    <dgm:pt modelId="{7AE1FD8A-01FE-42E9-AD7D-970010B284F3}" type="pres">
      <dgm:prSet presAssocID="{4F925224-9F52-49F7-BE81-DE895EC9AE22}" presName="sibTrans" presStyleCnt="0"/>
      <dgm:spPr/>
    </dgm:pt>
    <dgm:pt modelId="{35D7BBF4-CE6A-4716-927A-2FA08E42AEB3}" type="pres">
      <dgm:prSet presAssocID="{8DCBF260-0C77-4AD5-8E9E-D968810B2114}" presName="textNode" presStyleLbl="node1" presStyleIdx="4" presStyleCnt="6" custScaleX="120228" custScaleY="121060">
        <dgm:presLayoutVars>
          <dgm:bulletEnabled val="1"/>
        </dgm:presLayoutVars>
      </dgm:prSet>
      <dgm:spPr/>
    </dgm:pt>
    <dgm:pt modelId="{17D4F655-38EB-4C64-A4F4-4F5091D7BC06}" type="pres">
      <dgm:prSet presAssocID="{8199C5E7-0E36-4560-A232-489ACE87197F}" presName="sibTrans" presStyleCnt="0"/>
      <dgm:spPr/>
    </dgm:pt>
    <dgm:pt modelId="{EBB02417-4763-4D18-9262-4552875722BA}" type="pres">
      <dgm:prSet presAssocID="{102DD8DB-A6F7-4514-BEF8-20162001BECA}" presName="textNode" presStyleLbl="node1" presStyleIdx="5" presStyleCnt="6" custScaleX="122886" custScaleY="121060">
        <dgm:presLayoutVars>
          <dgm:bulletEnabled val="1"/>
        </dgm:presLayoutVars>
      </dgm:prSet>
      <dgm:spPr/>
    </dgm:pt>
  </dgm:ptLst>
  <dgm:cxnLst>
    <dgm:cxn modelId="{CEBF5A12-F0B7-4633-8776-5187CFF6D6A7}" type="presOf" srcId="{8DCBF260-0C77-4AD5-8E9E-D968810B2114}" destId="{35D7BBF4-CE6A-4716-927A-2FA08E42AEB3}" srcOrd="0" destOrd="0" presId="urn:microsoft.com/office/officeart/2005/8/layout/hProcess9"/>
    <dgm:cxn modelId="{53B0AB15-F65A-42E4-B615-61E044C93ABA}" srcId="{43798572-46A9-4B4D-92CF-1C533AC5B7CF}" destId="{719CD572-76FC-4862-A7C3-00E8CEE2C815}" srcOrd="0" destOrd="0" parTransId="{413DAC66-FD99-4C13-B3BA-7666EF11FDAF}" sibTransId="{2551FE77-AB02-4747-BD91-C9D6E93A9706}"/>
    <dgm:cxn modelId="{F276AF3C-D609-4F60-B708-56DE3A9643B1}" srcId="{43798572-46A9-4B4D-92CF-1C533AC5B7CF}" destId="{102DD8DB-A6F7-4514-BEF8-20162001BECA}" srcOrd="5" destOrd="0" parTransId="{7F1F820A-4827-48C0-93BF-017B4AA972EE}" sibTransId="{B8EEE547-BCB1-4A24-8711-9AD3B4D5E5BA}"/>
    <dgm:cxn modelId="{96E90354-4225-41AF-801D-0B1EA7A54ECB}" srcId="{43798572-46A9-4B4D-92CF-1C533AC5B7CF}" destId="{2F7321F1-705D-4655-898F-0367B67CB59D}" srcOrd="1" destOrd="0" parTransId="{3C9E9328-258F-4FDC-B433-D25A773C68AC}" sibTransId="{B39479F5-5FA6-4866-BD5C-A768962532A2}"/>
    <dgm:cxn modelId="{8C267F95-1619-4781-87E8-74D52A9BD6FA}" srcId="{43798572-46A9-4B4D-92CF-1C533AC5B7CF}" destId="{8DCBF260-0C77-4AD5-8E9E-D968810B2114}" srcOrd="4" destOrd="0" parTransId="{0475F5FD-CB77-4BE0-97DE-062AE42DF6A3}" sibTransId="{8199C5E7-0E36-4560-A232-489ACE87197F}"/>
    <dgm:cxn modelId="{9DA5BFA1-78CA-4628-B857-88B82D352F93}" type="presOf" srcId="{102DD8DB-A6F7-4514-BEF8-20162001BECA}" destId="{EBB02417-4763-4D18-9262-4552875722BA}" srcOrd="0" destOrd="0" presId="urn:microsoft.com/office/officeart/2005/8/layout/hProcess9"/>
    <dgm:cxn modelId="{F79442AE-7E44-49D9-97D3-3E86BAEA7C87}" type="presOf" srcId="{719CD572-76FC-4862-A7C3-00E8CEE2C815}" destId="{591DDDAC-E704-4430-817D-2D593FDF21ED}" srcOrd="0" destOrd="0" presId="urn:microsoft.com/office/officeart/2005/8/layout/hProcess9"/>
    <dgm:cxn modelId="{AF3B05B1-A8B5-4E87-B526-BCD72B92CBE1}" type="presOf" srcId="{43798572-46A9-4B4D-92CF-1C533AC5B7CF}" destId="{E8095DA7-0774-44A8-9D2B-D23D07A36163}" srcOrd="0" destOrd="0" presId="urn:microsoft.com/office/officeart/2005/8/layout/hProcess9"/>
    <dgm:cxn modelId="{7BC51CB7-E3EF-4B4E-881A-6544C15939BA}" srcId="{43798572-46A9-4B4D-92CF-1C533AC5B7CF}" destId="{ED4DC5FD-8506-4104-987D-00BEEBD9D414}" srcOrd="3" destOrd="0" parTransId="{4B4FE80E-A2AB-4DAC-B958-333DDF209B4C}" sibTransId="{4F925224-9F52-49F7-BE81-DE895EC9AE22}"/>
    <dgm:cxn modelId="{22582CC6-7C5B-4878-B421-D230363F9612}" type="presOf" srcId="{2F7321F1-705D-4655-898F-0367B67CB59D}" destId="{6C0913B0-D6CC-467B-B3BD-3E5E71F5DC5A}" srcOrd="0" destOrd="0" presId="urn:microsoft.com/office/officeart/2005/8/layout/hProcess9"/>
    <dgm:cxn modelId="{BD427BC8-3B96-413A-9B6B-61693BC3FE87}" type="presOf" srcId="{ED4DC5FD-8506-4104-987D-00BEEBD9D414}" destId="{B1308EFA-3723-4E3E-90BE-BBD28CAAC08F}" srcOrd="0" destOrd="0" presId="urn:microsoft.com/office/officeart/2005/8/layout/hProcess9"/>
    <dgm:cxn modelId="{96D18BCC-707A-4C7C-BBED-7E429E7DFB5A}" type="presOf" srcId="{3E426A95-757E-40A2-8418-982E0BD014F8}" destId="{A04B441D-4EA4-47EE-BFC7-B5DDA47DF574}" srcOrd="0" destOrd="0" presId="urn:microsoft.com/office/officeart/2005/8/layout/hProcess9"/>
    <dgm:cxn modelId="{02F15AF5-18B9-4DC3-BDC0-7F7135840561}" srcId="{43798572-46A9-4B4D-92CF-1C533AC5B7CF}" destId="{3E426A95-757E-40A2-8418-982E0BD014F8}" srcOrd="2" destOrd="0" parTransId="{4E2D20AA-87BA-47CA-995F-FD1637362683}" sibTransId="{757EB7A5-69C1-4632-B92F-B5F99F1326CE}"/>
    <dgm:cxn modelId="{615C3313-5F9B-44DA-ADB4-97F2211C2EFF}" type="presParOf" srcId="{E8095DA7-0774-44A8-9D2B-D23D07A36163}" destId="{7FA17414-9D82-4167-BAF9-0699558C8CDF}" srcOrd="0" destOrd="0" presId="urn:microsoft.com/office/officeart/2005/8/layout/hProcess9"/>
    <dgm:cxn modelId="{CD23C82A-D692-4605-BBA8-55CE34CFC87E}" type="presParOf" srcId="{E8095DA7-0774-44A8-9D2B-D23D07A36163}" destId="{D99DCE99-23FA-47C5-B0F5-A58A77808EFA}" srcOrd="1" destOrd="0" presId="urn:microsoft.com/office/officeart/2005/8/layout/hProcess9"/>
    <dgm:cxn modelId="{10F1EF2D-57E5-462F-AB27-55AB29BBDC8B}" type="presParOf" srcId="{D99DCE99-23FA-47C5-B0F5-A58A77808EFA}" destId="{591DDDAC-E704-4430-817D-2D593FDF21ED}" srcOrd="0" destOrd="0" presId="urn:microsoft.com/office/officeart/2005/8/layout/hProcess9"/>
    <dgm:cxn modelId="{C70DCDCE-D333-4094-AFC6-FEC933CF9EFA}" type="presParOf" srcId="{D99DCE99-23FA-47C5-B0F5-A58A77808EFA}" destId="{BC3D07E1-9015-4FDE-B3A3-9A912D20C4C0}" srcOrd="1" destOrd="0" presId="urn:microsoft.com/office/officeart/2005/8/layout/hProcess9"/>
    <dgm:cxn modelId="{E059D0F8-0DDD-4E30-834C-C38804224458}" type="presParOf" srcId="{D99DCE99-23FA-47C5-B0F5-A58A77808EFA}" destId="{6C0913B0-D6CC-467B-B3BD-3E5E71F5DC5A}" srcOrd="2" destOrd="0" presId="urn:microsoft.com/office/officeart/2005/8/layout/hProcess9"/>
    <dgm:cxn modelId="{29008719-B170-4AD8-B8FF-9FF09E647D8A}" type="presParOf" srcId="{D99DCE99-23FA-47C5-B0F5-A58A77808EFA}" destId="{4447DFD7-9CE7-45E0-BC8B-27265247D12B}" srcOrd="3" destOrd="0" presId="urn:microsoft.com/office/officeart/2005/8/layout/hProcess9"/>
    <dgm:cxn modelId="{CEBC9304-07B7-4AF8-97BC-8FE3B151DA46}" type="presParOf" srcId="{D99DCE99-23FA-47C5-B0F5-A58A77808EFA}" destId="{A04B441D-4EA4-47EE-BFC7-B5DDA47DF574}" srcOrd="4" destOrd="0" presId="urn:microsoft.com/office/officeart/2005/8/layout/hProcess9"/>
    <dgm:cxn modelId="{52694C9B-D6A9-441D-996F-116526B82615}" type="presParOf" srcId="{D99DCE99-23FA-47C5-B0F5-A58A77808EFA}" destId="{44703190-DED5-40E3-9D65-A134E6C5FF8B}" srcOrd="5" destOrd="0" presId="urn:microsoft.com/office/officeart/2005/8/layout/hProcess9"/>
    <dgm:cxn modelId="{D77DF688-1233-4247-94B9-BD94843697D0}" type="presParOf" srcId="{D99DCE99-23FA-47C5-B0F5-A58A77808EFA}" destId="{B1308EFA-3723-4E3E-90BE-BBD28CAAC08F}" srcOrd="6" destOrd="0" presId="urn:microsoft.com/office/officeart/2005/8/layout/hProcess9"/>
    <dgm:cxn modelId="{F36FA8AF-88C7-4228-B95A-2DF10AB98E00}" type="presParOf" srcId="{D99DCE99-23FA-47C5-B0F5-A58A77808EFA}" destId="{7AE1FD8A-01FE-42E9-AD7D-970010B284F3}" srcOrd="7" destOrd="0" presId="urn:microsoft.com/office/officeart/2005/8/layout/hProcess9"/>
    <dgm:cxn modelId="{908BEFE2-588A-4E62-BC67-1B3F95CBE62B}" type="presParOf" srcId="{D99DCE99-23FA-47C5-B0F5-A58A77808EFA}" destId="{35D7BBF4-CE6A-4716-927A-2FA08E42AEB3}" srcOrd="8" destOrd="0" presId="urn:microsoft.com/office/officeart/2005/8/layout/hProcess9"/>
    <dgm:cxn modelId="{74EB4D30-76F5-4BA5-80EA-0692C1D7A110}" type="presParOf" srcId="{D99DCE99-23FA-47C5-B0F5-A58A77808EFA}" destId="{17D4F655-38EB-4C64-A4F4-4F5091D7BC06}" srcOrd="9" destOrd="0" presId="urn:microsoft.com/office/officeart/2005/8/layout/hProcess9"/>
    <dgm:cxn modelId="{0327D92D-335C-4549-B404-0DB396B38096}" type="presParOf" srcId="{D99DCE99-23FA-47C5-B0F5-A58A77808EFA}" destId="{EBB02417-4763-4D18-9262-4552875722BA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A17414-9D82-4167-BAF9-0699558C8CDF}">
      <dsp:nvSpPr>
        <dsp:cNvPr id="0" name=""/>
        <dsp:cNvSpPr/>
      </dsp:nvSpPr>
      <dsp:spPr>
        <a:xfrm>
          <a:off x="2630513" y="0"/>
          <a:ext cx="29812485" cy="7501423"/>
        </a:xfrm>
        <a:prstGeom prst="rightArrow">
          <a:avLst/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1DDDAC-E704-4430-817D-2D593FDF21ED}">
      <dsp:nvSpPr>
        <dsp:cNvPr id="0" name=""/>
        <dsp:cNvSpPr/>
      </dsp:nvSpPr>
      <dsp:spPr>
        <a:xfrm>
          <a:off x="5296" y="2250426"/>
          <a:ext cx="4690739" cy="3000569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Pull 9 million+ IMDb and Amazon movie ratings</a:t>
          </a:r>
          <a:endParaRPr lang="en-US" sz="4000" kern="1200" dirty="0"/>
        </a:p>
      </dsp:txBody>
      <dsp:txXfrm>
        <a:off x="151772" y="2396902"/>
        <a:ext cx="4397787" cy="2707617"/>
      </dsp:txXfrm>
    </dsp:sp>
    <dsp:sp modelId="{6C0913B0-D6CC-467B-B3BD-3E5E71F5DC5A}">
      <dsp:nvSpPr>
        <dsp:cNvPr id="0" name=""/>
        <dsp:cNvSpPr/>
      </dsp:nvSpPr>
      <dsp:spPr>
        <a:xfrm>
          <a:off x="5477825" y="2250426"/>
          <a:ext cx="4690739" cy="3000569"/>
        </a:xfrm>
        <a:prstGeom prst="roundRect">
          <a:avLst/>
        </a:prstGeom>
        <a:solidFill>
          <a:schemeClr val="accent6">
            <a:shade val="50000"/>
            <a:hueOff val="122808"/>
            <a:satOff val="-5368"/>
            <a:lumOff val="146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Filter out titles with less than 50 reviews</a:t>
          </a:r>
        </a:p>
      </dsp:txBody>
      <dsp:txXfrm>
        <a:off x="5624301" y="2396902"/>
        <a:ext cx="4397787" cy="2707617"/>
      </dsp:txXfrm>
    </dsp:sp>
    <dsp:sp modelId="{A04B441D-4EA4-47EE-BFC7-B5DDA47DF574}">
      <dsp:nvSpPr>
        <dsp:cNvPr id="0" name=""/>
        <dsp:cNvSpPr/>
      </dsp:nvSpPr>
      <dsp:spPr>
        <a:xfrm>
          <a:off x="10950355" y="2250426"/>
          <a:ext cx="4690739" cy="3000569"/>
        </a:xfrm>
        <a:prstGeom prst="roundRect">
          <a:avLst/>
        </a:prstGeom>
        <a:solidFill>
          <a:schemeClr val="accent6">
            <a:shade val="50000"/>
            <a:hueOff val="245616"/>
            <a:satOff val="-10737"/>
            <a:lumOff val="29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 the VADER tool to perform sentiment analysis on written reviews</a:t>
          </a:r>
        </a:p>
      </dsp:txBody>
      <dsp:txXfrm>
        <a:off x="11096831" y="2396902"/>
        <a:ext cx="4397787" cy="2707617"/>
      </dsp:txXfrm>
    </dsp:sp>
    <dsp:sp modelId="{B1308EFA-3723-4E3E-90BE-BBD28CAAC08F}">
      <dsp:nvSpPr>
        <dsp:cNvPr id="0" name=""/>
        <dsp:cNvSpPr/>
      </dsp:nvSpPr>
      <dsp:spPr>
        <a:xfrm>
          <a:off x="16422885" y="2053829"/>
          <a:ext cx="5677905" cy="3393763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Compare normalized sentiment scores with actual reviews to identify underrated films</a:t>
          </a:r>
        </a:p>
      </dsp:txBody>
      <dsp:txXfrm>
        <a:off x="16588555" y="2219499"/>
        <a:ext cx="5346565" cy="3062423"/>
      </dsp:txXfrm>
    </dsp:sp>
    <dsp:sp modelId="{35D7BBF4-CE6A-4716-927A-2FA08E42AEB3}">
      <dsp:nvSpPr>
        <dsp:cNvPr id="0" name=""/>
        <dsp:cNvSpPr/>
      </dsp:nvSpPr>
      <dsp:spPr>
        <a:xfrm>
          <a:off x="22882580" y="1934466"/>
          <a:ext cx="5639582" cy="3632489"/>
        </a:xfrm>
        <a:prstGeom prst="roundRect">
          <a:avLst/>
        </a:prstGeom>
        <a:solidFill>
          <a:schemeClr val="accent6">
            <a:shade val="50000"/>
            <a:hueOff val="245616"/>
            <a:satOff val="-10737"/>
            <a:lumOff val="29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 a hybrid ranking using a weighted combination of the two review methods to identify top overall films</a:t>
          </a:r>
        </a:p>
      </dsp:txBody>
      <dsp:txXfrm>
        <a:off x="23059903" y="2111789"/>
        <a:ext cx="5284936" cy="3277843"/>
      </dsp:txXfrm>
    </dsp:sp>
    <dsp:sp modelId="{EBB02417-4763-4D18-9262-4552875722BA}">
      <dsp:nvSpPr>
        <dsp:cNvPr id="0" name=""/>
        <dsp:cNvSpPr/>
      </dsp:nvSpPr>
      <dsp:spPr>
        <a:xfrm>
          <a:off x="29303953" y="1934466"/>
          <a:ext cx="5764262" cy="3632489"/>
        </a:xfrm>
        <a:prstGeom prst="roundRect">
          <a:avLst/>
        </a:prstGeom>
        <a:solidFill>
          <a:schemeClr val="accent6">
            <a:shade val="50000"/>
            <a:hueOff val="122808"/>
            <a:satOff val="-5368"/>
            <a:lumOff val="146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Compare correlation of the two rating systems, identify trends in genres and release year using linear regression</a:t>
          </a:r>
        </a:p>
      </dsp:txBody>
      <dsp:txXfrm>
        <a:off x="29481276" y="2111789"/>
        <a:ext cx="5409616" cy="3277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7550" y="5312518"/>
            <a:ext cx="36918900" cy="11301307"/>
          </a:xfrm>
        </p:spPr>
        <p:txBody>
          <a:bodyPr anchor="b"/>
          <a:lstStyle>
            <a:lvl1pPr algn="ctr">
              <a:defRPr sz="2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29250" y="17049647"/>
            <a:ext cx="32575500" cy="7837273"/>
          </a:xfrm>
        </p:spPr>
        <p:txBody>
          <a:bodyPr/>
          <a:lstStyle>
            <a:lvl1pPr marL="0" indent="0" algn="ctr">
              <a:buNone/>
              <a:defRPr sz="11360"/>
            </a:lvl1pPr>
            <a:lvl2pPr marL="2164065" indent="0" algn="ctr">
              <a:buNone/>
              <a:defRPr sz="9467"/>
            </a:lvl2pPr>
            <a:lvl3pPr marL="4328130" indent="0" algn="ctr">
              <a:buNone/>
              <a:defRPr sz="8520"/>
            </a:lvl3pPr>
            <a:lvl4pPr marL="6492194" indent="0" algn="ctr">
              <a:buNone/>
              <a:defRPr sz="7573"/>
            </a:lvl4pPr>
            <a:lvl5pPr marL="8656259" indent="0" algn="ctr">
              <a:buNone/>
              <a:defRPr sz="7573"/>
            </a:lvl5pPr>
            <a:lvl6pPr marL="10820324" indent="0" algn="ctr">
              <a:buNone/>
              <a:defRPr sz="7573"/>
            </a:lvl6pPr>
            <a:lvl7pPr marL="12984389" indent="0" algn="ctr">
              <a:buNone/>
              <a:defRPr sz="7573"/>
            </a:lvl7pPr>
            <a:lvl8pPr marL="15148453" indent="0" algn="ctr">
              <a:buNone/>
              <a:defRPr sz="7573"/>
            </a:lvl8pPr>
            <a:lvl9pPr marL="17312518" indent="0" algn="ctr">
              <a:buNone/>
              <a:defRPr sz="75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2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9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3468" y="8092767"/>
            <a:ext cx="37461825" cy="13502955"/>
          </a:xfrm>
        </p:spPr>
        <p:txBody>
          <a:bodyPr anchor="b"/>
          <a:lstStyle>
            <a:lvl1pPr>
              <a:defRPr sz="2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63468" y="21723465"/>
            <a:ext cx="37461825" cy="7100885"/>
          </a:xfrm>
        </p:spPr>
        <p:txBody>
          <a:bodyPr/>
          <a:lstStyle>
            <a:lvl1pPr marL="0" indent="0">
              <a:buNone/>
              <a:defRPr sz="11360">
                <a:solidFill>
                  <a:schemeClr val="tx1"/>
                </a:solidFill>
              </a:defRPr>
            </a:lvl1pPr>
            <a:lvl2pPr marL="2164065" indent="0">
              <a:buNone/>
              <a:defRPr sz="9467">
                <a:solidFill>
                  <a:schemeClr val="tx1">
                    <a:tint val="75000"/>
                  </a:schemeClr>
                </a:solidFill>
              </a:defRPr>
            </a:lvl2pPr>
            <a:lvl3pPr marL="4328130" indent="0">
              <a:buNone/>
              <a:defRPr sz="8520">
                <a:solidFill>
                  <a:schemeClr val="tx1">
                    <a:tint val="75000"/>
                  </a:schemeClr>
                </a:solidFill>
              </a:defRPr>
            </a:lvl3pPr>
            <a:lvl4pPr marL="6492194" indent="0">
              <a:buNone/>
              <a:defRPr sz="7573">
                <a:solidFill>
                  <a:schemeClr val="tx1">
                    <a:tint val="75000"/>
                  </a:schemeClr>
                </a:solidFill>
              </a:defRPr>
            </a:lvl4pPr>
            <a:lvl5pPr marL="8656259" indent="0">
              <a:buNone/>
              <a:defRPr sz="7573">
                <a:solidFill>
                  <a:schemeClr val="tx1">
                    <a:tint val="75000"/>
                  </a:schemeClr>
                </a:solidFill>
              </a:defRPr>
            </a:lvl5pPr>
            <a:lvl6pPr marL="10820324" indent="0">
              <a:buNone/>
              <a:defRPr sz="7573">
                <a:solidFill>
                  <a:schemeClr val="tx1">
                    <a:tint val="75000"/>
                  </a:schemeClr>
                </a:solidFill>
              </a:defRPr>
            </a:lvl6pPr>
            <a:lvl7pPr marL="12984389" indent="0">
              <a:buNone/>
              <a:defRPr sz="7573">
                <a:solidFill>
                  <a:schemeClr val="tx1">
                    <a:tint val="75000"/>
                  </a:schemeClr>
                </a:solidFill>
              </a:defRPr>
            </a:lvl7pPr>
            <a:lvl8pPr marL="15148453" indent="0">
              <a:buNone/>
              <a:defRPr sz="7573">
                <a:solidFill>
                  <a:schemeClr val="tx1">
                    <a:tint val="75000"/>
                  </a:schemeClr>
                </a:solidFill>
              </a:defRPr>
            </a:lvl8pPr>
            <a:lvl9pPr marL="17312518" indent="0">
              <a:buNone/>
              <a:defRPr sz="75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7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86088" y="8641292"/>
            <a:ext cx="18459450" cy="20596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88463" y="8641292"/>
            <a:ext cx="18459450" cy="20596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80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1745" y="1728265"/>
            <a:ext cx="37461825" cy="6274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1750" y="7957505"/>
            <a:ext cx="18374615" cy="3899850"/>
          </a:xfrm>
        </p:spPr>
        <p:txBody>
          <a:bodyPr anchor="b"/>
          <a:lstStyle>
            <a:lvl1pPr marL="0" indent="0">
              <a:buNone/>
              <a:defRPr sz="11360" b="1"/>
            </a:lvl1pPr>
            <a:lvl2pPr marL="2164065" indent="0">
              <a:buNone/>
              <a:defRPr sz="9467" b="1"/>
            </a:lvl2pPr>
            <a:lvl3pPr marL="4328130" indent="0">
              <a:buNone/>
              <a:defRPr sz="8520" b="1"/>
            </a:lvl3pPr>
            <a:lvl4pPr marL="6492194" indent="0">
              <a:buNone/>
              <a:defRPr sz="7573" b="1"/>
            </a:lvl4pPr>
            <a:lvl5pPr marL="8656259" indent="0">
              <a:buNone/>
              <a:defRPr sz="7573" b="1"/>
            </a:lvl5pPr>
            <a:lvl6pPr marL="10820324" indent="0">
              <a:buNone/>
              <a:defRPr sz="7573" b="1"/>
            </a:lvl6pPr>
            <a:lvl7pPr marL="12984389" indent="0">
              <a:buNone/>
              <a:defRPr sz="7573" b="1"/>
            </a:lvl7pPr>
            <a:lvl8pPr marL="15148453" indent="0">
              <a:buNone/>
              <a:defRPr sz="7573" b="1"/>
            </a:lvl8pPr>
            <a:lvl9pPr marL="17312518" indent="0">
              <a:buNone/>
              <a:defRPr sz="75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91750" y="11857355"/>
            <a:ext cx="18374615" cy="17440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988465" y="7957505"/>
            <a:ext cx="18465107" cy="3899850"/>
          </a:xfrm>
        </p:spPr>
        <p:txBody>
          <a:bodyPr anchor="b"/>
          <a:lstStyle>
            <a:lvl1pPr marL="0" indent="0">
              <a:buNone/>
              <a:defRPr sz="11360" b="1"/>
            </a:lvl1pPr>
            <a:lvl2pPr marL="2164065" indent="0">
              <a:buNone/>
              <a:defRPr sz="9467" b="1"/>
            </a:lvl2pPr>
            <a:lvl3pPr marL="4328130" indent="0">
              <a:buNone/>
              <a:defRPr sz="8520" b="1"/>
            </a:lvl3pPr>
            <a:lvl4pPr marL="6492194" indent="0">
              <a:buNone/>
              <a:defRPr sz="7573" b="1"/>
            </a:lvl4pPr>
            <a:lvl5pPr marL="8656259" indent="0">
              <a:buNone/>
              <a:defRPr sz="7573" b="1"/>
            </a:lvl5pPr>
            <a:lvl6pPr marL="10820324" indent="0">
              <a:buNone/>
              <a:defRPr sz="7573" b="1"/>
            </a:lvl6pPr>
            <a:lvl7pPr marL="12984389" indent="0">
              <a:buNone/>
              <a:defRPr sz="7573" b="1"/>
            </a:lvl7pPr>
            <a:lvl8pPr marL="15148453" indent="0">
              <a:buNone/>
              <a:defRPr sz="7573" b="1"/>
            </a:lvl8pPr>
            <a:lvl9pPr marL="17312518" indent="0">
              <a:buNone/>
              <a:defRPr sz="75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988465" y="11857355"/>
            <a:ext cx="18465107" cy="17440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9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67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1745" y="2164080"/>
            <a:ext cx="14008596" cy="7574280"/>
          </a:xfrm>
        </p:spPr>
        <p:txBody>
          <a:bodyPr anchor="b"/>
          <a:lstStyle>
            <a:lvl1pPr>
              <a:defRPr sz="151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65107" y="4673819"/>
            <a:ext cx="21988463" cy="23068492"/>
          </a:xfrm>
        </p:spPr>
        <p:txBody>
          <a:bodyPr/>
          <a:lstStyle>
            <a:lvl1pPr>
              <a:defRPr sz="15147"/>
            </a:lvl1pPr>
            <a:lvl2pPr>
              <a:defRPr sz="13253"/>
            </a:lvl2pPr>
            <a:lvl3pPr>
              <a:defRPr sz="11360"/>
            </a:lvl3pPr>
            <a:lvl4pPr>
              <a:defRPr sz="9467"/>
            </a:lvl4pPr>
            <a:lvl5pPr>
              <a:defRPr sz="9467"/>
            </a:lvl5pPr>
            <a:lvl6pPr>
              <a:defRPr sz="9467"/>
            </a:lvl6pPr>
            <a:lvl7pPr>
              <a:defRPr sz="9467"/>
            </a:lvl7pPr>
            <a:lvl8pPr>
              <a:defRPr sz="9467"/>
            </a:lvl8pPr>
            <a:lvl9pPr>
              <a:defRPr sz="9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91745" y="9738360"/>
            <a:ext cx="14008596" cy="18041517"/>
          </a:xfrm>
        </p:spPr>
        <p:txBody>
          <a:bodyPr/>
          <a:lstStyle>
            <a:lvl1pPr marL="0" indent="0">
              <a:buNone/>
              <a:defRPr sz="7573"/>
            </a:lvl1pPr>
            <a:lvl2pPr marL="2164065" indent="0">
              <a:buNone/>
              <a:defRPr sz="6627"/>
            </a:lvl2pPr>
            <a:lvl3pPr marL="4328130" indent="0">
              <a:buNone/>
              <a:defRPr sz="5680"/>
            </a:lvl3pPr>
            <a:lvl4pPr marL="6492194" indent="0">
              <a:buNone/>
              <a:defRPr sz="4733"/>
            </a:lvl4pPr>
            <a:lvl5pPr marL="8656259" indent="0">
              <a:buNone/>
              <a:defRPr sz="4733"/>
            </a:lvl5pPr>
            <a:lvl6pPr marL="10820324" indent="0">
              <a:buNone/>
              <a:defRPr sz="4733"/>
            </a:lvl6pPr>
            <a:lvl7pPr marL="12984389" indent="0">
              <a:buNone/>
              <a:defRPr sz="4733"/>
            </a:lvl7pPr>
            <a:lvl8pPr marL="15148453" indent="0">
              <a:buNone/>
              <a:defRPr sz="4733"/>
            </a:lvl8pPr>
            <a:lvl9pPr marL="17312518" indent="0">
              <a:buNone/>
              <a:defRPr sz="4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27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1745" y="2164080"/>
            <a:ext cx="14008596" cy="7574280"/>
          </a:xfrm>
        </p:spPr>
        <p:txBody>
          <a:bodyPr anchor="b"/>
          <a:lstStyle>
            <a:lvl1pPr>
              <a:defRPr sz="151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465107" y="4673819"/>
            <a:ext cx="21988463" cy="23068492"/>
          </a:xfrm>
        </p:spPr>
        <p:txBody>
          <a:bodyPr anchor="t"/>
          <a:lstStyle>
            <a:lvl1pPr marL="0" indent="0">
              <a:buNone/>
              <a:defRPr sz="15147"/>
            </a:lvl1pPr>
            <a:lvl2pPr marL="2164065" indent="0">
              <a:buNone/>
              <a:defRPr sz="13253"/>
            </a:lvl2pPr>
            <a:lvl3pPr marL="4328130" indent="0">
              <a:buNone/>
              <a:defRPr sz="11360"/>
            </a:lvl3pPr>
            <a:lvl4pPr marL="6492194" indent="0">
              <a:buNone/>
              <a:defRPr sz="9467"/>
            </a:lvl4pPr>
            <a:lvl5pPr marL="8656259" indent="0">
              <a:buNone/>
              <a:defRPr sz="9467"/>
            </a:lvl5pPr>
            <a:lvl6pPr marL="10820324" indent="0">
              <a:buNone/>
              <a:defRPr sz="9467"/>
            </a:lvl6pPr>
            <a:lvl7pPr marL="12984389" indent="0">
              <a:buNone/>
              <a:defRPr sz="9467"/>
            </a:lvl7pPr>
            <a:lvl8pPr marL="15148453" indent="0">
              <a:buNone/>
              <a:defRPr sz="9467"/>
            </a:lvl8pPr>
            <a:lvl9pPr marL="17312518" indent="0">
              <a:buNone/>
              <a:defRPr sz="9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91745" y="9738360"/>
            <a:ext cx="14008596" cy="18041517"/>
          </a:xfrm>
        </p:spPr>
        <p:txBody>
          <a:bodyPr/>
          <a:lstStyle>
            <a:lvl1pPr marL="0" indent="0">
              <a:buNone/>
              <a:defRPr sz="7573"/>
            </a:lvl1pPr>
            <a:lvl2pPr marL="2164065" indent="0">
              <a:buNone/>
              <a:defRPr sz="6627"/>
            </a:lvl2pPr>
            <a:lvl3pPr marL="4328130" indent="0">
              <a:buNone/>
              <a:defRPr sz="5680"/>
            </a:lvl3pPr>
            <a:lvl4pPr marL="6492194" indent="0">
              <a:buNone/>
              <a:defRPr sz="4733"/>
            </a:lvl4pPr>
            <a:lvl5pPr marL="8656259" indent="0">
              <a:buNone/>
              <a:defRPr sz="4733"/>
            </a:lvl5pPr>
            <a:lvl6pPr marL="10820324" indent="0">
              <a:buNone/>
              <a:defRPr sz="4733"/>
            </a:lvl6pPr>
            <a:lvl7pPr marL="12984389" indent="0">
              <a:buNone/>
              <a:defRPr sz="4733"/>
            </a:lvl7pPr>
            <a:lvl8pPr marL="15148453" indent="0">
              <a:buNone/>
              <a:defRPr sz="4733"/>
            </a:lvl8pPr>
            <a:lvl9pPr marL="17312518" indent="0">
              <a:buNone/>
              <a:defRPr sz="4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4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26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082459" y="1728258"/>
            <a:ext cx="9365456" cy="275093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86090" y="1728258"/>
            <a:ext cx="27553444" cy="275093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6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6088" y="1728265"/>
            <a:ext cx="37461825" cy="6274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86088" y="8641292"/>
            <a:ext cx="37461825" cy="20596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6088" y="30086731"/>
            <a:ext cx="9772650" cy="1728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6298-C46A-4E8A-B4E6-18C65334C2C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87513" y="30086731"/>
            <a:ext cx="14658975" cy="1728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675263" y="30086731"/>
            <a:ext cx="9772650" cy="1728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7C8C7-D033-4FA3-B59C-6D52E3E5F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9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28130" rtl="0" eaLnBrk="1" latinLnBrk="0" hangingPunct="1">
        <a:lnSpc>
          <a:spcPct val="90000"/>
        </a:lnSpc>
        <a:spcBef>
          <a:spcPct val="0"/>
        </a:spcBef>
        <a:buNone/>
        <a:defRPr sz="208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2032" indent="-1082032" algn="l" defTabSz="4328130" rtl="0" eaLnBrk="1" latinLnBrk="0" hangingPunct="1">
        <a:lnSpc>
          <a:spcPct val="90000"/>
        </a:lnSpc>
        <a:spcBef>
          <a:spcPts val="4733"/>
        </a:spcBef>
        <a:buFont typeface="Arial" panose="020B0604020202020204" pitchFamily="34" charset="0"/>
        <a:buChar char="•"/>
        <a:defRPr sz="13253" kern="1200">
          <a:solidFill>
            <a:schemeClr val="tx1"/>
          </a:solidFill>
          <a:latin typeface="+mn-lt"/>
          <a:ea typeface="+mn-ea"/>
          <a:cs typeface="+mn-cs"/>
        </a:defRPr>
      </a:lvl1pPr>
      <a:lvl2pPr marL="3246097" indent="-1082032" algn="l" defTabSz="4328130" rtl="0" eaLnBrk="1" latinLnBrk="0" hangingPunct="1">
        <a:lnSpc>
          <a:spcPct val="90000"/>
        </a:lnSpc>
        <a:spcBef>
          <a:spcPts val="2367"/>
        </a:spcBef>
        <a:buFont typeface="Arial" panose="020B0604020202020204" pitchFamily="34" charset="0"/>
        <a:buChar char="•"/>
        <a:defRPr sz="11360" kern="1200">
          <a:solidFill>
            <a:schemeClr val="tx1"/>
          </a:solidFill>
          <a:latin typeface="+mn-lt"/>
          <a:ea typeface="+mn-ea"/>
          <a:cs typeface="+mn-cs"/>
        </a:defRPr>
      </a:lvl2pPr>
      <a:lvl3pPr marL="5410162" indent="-1082032" algn="l" defTabSz="4328130" rtl="0" eaLnBrk="1" latinLnBrk="0" hangingPunct="1">
        <a:lnSpc>
          <a:spcPct val="90000"/>
        </a:lnSpc>
        <a:spcBef>
          <a:spcPts val="2367"/>
        </a:spcBef>
        <a:buFont typeface="Arial" panose="020B0604020202020204" pitchFamily="34" charset="0"/>
        <a:buChar char="•"/>
        <a:defRPr sz="9467" kern="1200">
          <a:solidFill>
            <a:schemeClr val="tx1"/>
          </a:solidFill>
          <a:latin typeface="+mn-lt"/>
          <a:ea typeface="+mn-ea"/>
          <a:cs typeface="+mn-cs"/>
        </a:defRPr>
      </a:lvl3pPr>
      <a:lvl4pPr marL="7574227" indent="-1082032" algn="l" defTabSz="4328130" rtl="0" eaLnBrk="1" latinLnBrk="0" hangingPunct="1">
        <a:lnSpc>
          <a:spcPct val="90000"/>
        </a:lnSpc>
        <a:spcBef>
          <a:spcPts val="2367"/>
        </a:spcBef>
        <a:buFont typeface="Arial" panose="020B0604020202020204" pitchFamily="34" charset="0"/>
        <a:buChar char="•"/>
        <a:defRPr sz="8520" kern="1200">
          <a:solidFill>
            <a:schemeClr val="tx1"/>
          </a:solidFill>
          <a:latin typeface="+mn-lt"/>
          <a:ea typeface="+mn-ea"/>
          <a:cs typeface="+mn-cs"/>
        </a:defRPr>
      </a:lvl4pPr>
      <a:lvl5pPr marL="9738291" indent="-1082032" algn="l" defTabSz="4328130" rtl="0" eaLnBrk="1" latinLnBrk="0" hangingPunct="1">
        <a:lnSpc>
          <a:spcPct val="90000"/>
        </a:lnSpc>
        <a:spcBef>
          <a:spcPts val="2367"/>
        </a:spcBef>
        <a:buFont typeface="Arial" panose="020B0604020202020204" pitchFamily="34" charset="0"/>
        <a:buChar char="•"/>
        <a:defRPr sz="8520" kern="1200">
          <a:solidFill>
            <a:schemeClr val="tx1"/>
          </a:solidFill>
          <a:latin typeface="+mn-lt"/>
          <a:ea typeface="+mn-ea"/>
          <a:cs typeface="+mn-cs"/>
        </a:defRPr>
      </a:lvl5pPr>
      <a:lvl6pPr marL="11902356" indent="-1082032" algn="l" defTabSz="4328130" rtl="0" eaLnBrk="1" latinLnBrk="0" hangingPunct="1">
        <a:lnSpc>
          <a:spcPct val="90000"/>
        </a:lnSpc>
        <a:spcBef>
          <a:spcPts val="2367"/>
        </a:spcBef>
        <a:buFont typeface="Arial" panose="020B0604020202020204" pitchFamily="34" charset="0"/>
        <a:buChar char="•"/>
        <a:defRPr sz="8520" kern="1200">
          <a:solidFill>
            <a:schemeClr val="tx1"/>
          </a:solidFill>
          <a:latin typeface="+mn-lt"/>
          <a:ea typeface="+mn-ea"/>
          <a:cs typeface="+mn-cs"/>
        </a:defRPr>
      </a:lvl6pPr>
      <a:lvl7pPr marL="14066421" indent="-1082032" algn="l" defTabSz="4328130" rtl="0" eaLnBrk="1" latinLnBrk="0" hangingPunct="1">
        <a:lnSpc>
          <a:spcPct val="90000"/>
        </a:lnSpc>
        <a:spcBef>
          <a:spcPts val="2367"/>
        </a:spcBef>
        <a:buFont typeface="Arial" panose="020B0604020202020204" pitchFamily="34" charset="0"/>
        <a:buChar char="•"/>
        <a:defRPr sz="8520" kern="1200">
          <a:solidFill>
            <a:schemeClr val="tx1"/>
          </a:solidFill>
          <a:latin typeface="+mn-lt"/>
          <a:ea typeface="+mn-ea"/>
          <a:cs typeface="+mn-cs"/>
        </a:defRPr>
      </a:lvl7pPr>
      <a:lvl8pPr marL="16230486" indent="-1082032" algn="l" defTabSz="4328130" rtl="0" eaLnBrk="1" latinLnBrk="0" hangingPunct="1">
        <a:lnSpc>
          <a:spcPct val="90000"/>
        </a:lnSpc>
        <a:spcBef>
          <a:spcPts val="2367"/>
        </a:spcBef>
        <a:buFont typeface="Arial" panose="020B0604020202020204" pitchFamily="34" charset="0"/>
        <a:buChar char="•"/>
        <a:defRPr sz="8520" kern="1200">
          <a:solidFill>
            <a:schemeClr val="tx1"/>
          </a:solidFill>
          <a:latin typeface="+mn-lt"/>
          <a:ea typeface="+mn-ea"/>
          <a:cs typeface="+mn-cs"/>
        </a:defRPr>
      </a:lvl8pPr>
      <a:lvl9pPr marL="18394550" indent="-1082032" algn="l" defTabSz="4328130" rtl="0" eaLnBrk="1" latinLnBrk="0" hangingPunct="1">
        <a:lnSpc>
          <a:spcPct val="90000"/>
        </a:lnSpc>
        <a:spcBef>
          <a:spcPts val="2367"/>
        </a:spcBef>
        <a:buFont typeface="Arial" panose="020B0604020202020204" pitchFamily="34" charset="0"/>
        <a:buChar char="•"/>
        <a:defRPr sz="8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8130" rtl="0" eaLnBrk="1" latinLnBrk="0" hangingPunct="1">
        <a:defRPr sz="8520" kern="1200">
          <a:solidFill>
            <a:schemeClr val="tx1"/>
          </a:solidFill>
          <a:latin typeface="+mn-lt"/>
          <a:ea typeface="+mn-ea"/>
          <a:cs typeface="+mn-cs"/>
        </a:defRPr>
      </a:lvl1pPr>
      <a:lvl2pPr marL="2164065" algn="l" defTabSz="4328130" rtl="0" eaLnBrk="1" latinLnBrk="0" hangingPunct="1">
        <a:defRPr sz="8520" kern="1200">
          <a:solidFill>
            <a:schemeClr val="tx1"/>
          </a:solidFill>
          <a:latin typeface="+mn-lt"/>
          <a:ea typeface="+mn-ea"/>
          <a:cs typeface="+mn-cs"/>
        </a:defRPr>
      </a:lvl2pPr>
      <a:lvl3pPr marL="4328130" algn="l" defTabSz="4328130" rtl="0" eaLnBrk="1" latinLnBrk="0" hangingPunct="1">
        <a:defRPr sz="8520" kern="1200">
          <a:solidFill>
            <a:schemeClr val="tx1"/>
          </a:solidFill>
          <a:latin typeface="+mn-lt"/>
          <a:ea typeface="+mn-ea"/>
          <a:cs typeface="+mn-cs"/>
        </a:defRPr>
      </a:lvl3pPr>
      <a:lvl4pPr marL="6492194" algn="l" defTabSz="4328130" rtl="0" eaLnBrk="1" latinLnBrk="0" hangingPunct="1">
        <a:defRPr sz="8520" kern="1200">
          <a:solidFill>
            <a:schemeClr val="tx1"/>
          </a:solidFill>
          <a:latin typeface="+mn-lt"/>
          <a:ea typeface="+mn-ea"/>
          <a:cs typeface="+mn-cs"/>
        </a:defRPr>
      </a:lvl4pPr>
      <a:lvl5pPr marL="8656259" algn="l" defTabSz="4328130" rtl="0" eaLnBrk="1" latinLnBrk="0" hangingPunct="1">
        <a:defRPr sz="8520" kern="1200">
          <a:solidFill>
            <a:schemeClr val="tx1"/>
          </a:solidFill>
          <a:latin typeface="+mn-lt"/>
          <a:ea typeface="+mn-ea"/>
          <a:cs typeface="+mn-cs"/>
        </a:defRPr>
      </a:lvl5pPr>
      <a:lvl6pPr marL="10820324" algn="l" defTabSz="4328130" rtl="0" eaLnBrk="1" latinLnBrk="0" hangingPunct="1">
        <a:defRPr sz="8520" kern="1200">
          <a:solidFill>
            <a:schemeClr val="tx1"/>
          </a:solidFill>
          <a:latin typeface="+mn-lt"/>
          <a:ea typeface="+mn-ea"/>
          <a:cs typeface="+mn-cs"/>
        </a:defRPr>
      </a:lvl6pPr>
      <a:lvl7pPr marL="12984389" algn="l" defTabSz="4328130" rtl="0" eaLnBrk="1" latinLnBrk="0" hangingPunct="1">
        <a:defRPr sz="8520" kern="1200">
          <a:solidFill>
            <a:schemeClr val="tx1"/>
          </a:solidFill>
          <a:latin typeface="+mn-lt"/>
          <a:ea typeface="+mn-ea"/>
          <a:cs typeface="+mn-cs"/>
        </a:defRPr>
      </a:lvl7pPr>
      <a:lvl8pPr marL="15148453" algn="l" defTabSz="4328130" rtl="0" eaLnBrk="1" latinLnBrk="0" hangingPunct="1">
        <a:defRPr sz="8520" kern="1200">
          <a:solidFill>
            <a:schemeClr val="tx1"/>
          </a:solidFill>
          <a:latin typeface="+mn-lt"/>
          <a:ea typeface="+mn-ea"/>
          <a:cs typeface="+mn-cs"/>
        </a:defRPr>
      </a:lvl8pPr>
      <a:lvl9pPr marL="17312518" algn="l" defTabSz="4328130" rtl="0" eaLnBrk="1" latinLnBrk="0" hangingPunct="1">
        <a:defRPr sz="8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5" Type="http://schemas.openxmlformats.org/officeDocument/2006/relationships/image" Target="../media/image4.png"/><Relationship Id="rId10" Type="http://schemas.microsoft.com/office/2007/relationships/diagramDrawing" Target="../diagrams/drawing1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F34B9-BB9A-5F8E-BCFF-8145200D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CDD5AD8-80E1-8834-C709-BBF77A5C8CC0}"/>
              </a:ext>
            </a:extLst>
          </p:cNvPr>
          <p:cNvSpPr/>
          <p:nvPr/>
        </p:nvSpPr>
        <p:spPr>
          <a:xfrm>
            <a:off x="445028" y="16543059"/>
            <a:ext cx="25977207" cy="854967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E3212E9-C844-2213-527C-1F54A3E3CB22}"/>
              </a:ext>
            </a:extLst>
          </p:cNvPr>
          <p:cNvSpPr/>
          <p:nvPr/>
        </p:nvSpPr>
        <p:spPr>
          <a:xfrm>
            <a:off x="445028" y="3573780"/>
            <a:ext cx="12791649" cy="128016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2F36A88-9CA2-ED2E-31F1-82BE447F4951}"/>
              </a:ext>
            </a:extLst>
          </p:cNvPr>
          <p:cNvSpPr/>
          <p:nvPr/>
        </p:nvSpPr>
        <p:spPr>
          <a:xfrm>
            <a:off x="26792903" y="3573780"/>
            <a:ext cx="16166572" cy="2151895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835ED-1944-390D-2D93-389DE4ABC8F6}"/>
              </a:ext>
            </a:extLst>
          </p:cNvPr>
          <p:cNvSpPr txBox="1"/>
          <p:nvPr/>
        </p:nvSpPr>
        <p:spPr>
          <a:xfrm>
            <a:off x="40690800" y="0"/>
            <a:ext cx="2743200" cy="18288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33142F-DB14-EC88-CA71-2B2F9484E552}"/>
              </a:ext>
            </a:extLst>
          </p:cNvPr>
          <p:cNvSpPr txBox="1"/>
          <p:nvPr/>
        </p:nvSpPr>
        <p:spPr>
          <a:xfrm>
            <a:off x="953237" y="4252651"/>
            <a:ext cx="11978640" cy="11603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both fans of movies of all genres, but often find a fundamental flaw in the traditional movie ranking system: rankings based on a star system often disproportionately see 2-star and 3-star (and sometimes even 4-star) ratings underutilized in comparison to their true feelings about a film. A written review is often more nuanced and reveals much more detail about a consumer’s understanding than a star-based ranking, but can be much more difficult to consume efficiently or in aggregate. </a:t>
            </a:r>
          </a:p>
          <a:p>
            <a:pPr algn="just"/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seek to expose this delta between easy-to-use star rankings and detailed individual written reviews by performing sentiment analysis with the VADER tool on written reviews and comparing this to traditional reviews to find under- and over-appreciated films.</a:t>
            </a:r>
          </a:p>
        </p:txBody>
      </p:sp>
      <p:pic>
        <p:nvPicPr>
          <p:cNvPr id="11" name="Picture 10" descr="A graph of a number of movies&#10;&#10;AI-generated content may be incorrect.">
            <a:extLst>
              <a:ext uri="{FF2B5EF4-FFF2-40B4-BE49-F238E27FC236}">
                <a16:creationId xmlns:a16="http://schemas.microsoft.com/office/drawing/2014/main" id="{70C5DAE8-070B-9786-C781-AAAE07B8C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43" y="16820536"/>
            <a:ext cx="11880812" cy="7987451"/>
          </a:xfrm>
          <a:prstGeom prst="rect">
            <a:avLst/>
          </a:prstGeom>
        </p:spPr>
      </p:pic>
      <p:pic>
        <p:nvPicPr>
          <p:cNvPr id="13" name="Picture 1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393E52F-17AA-0759-9AD3-A570E0CBB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9612" y="4502949"/>
            <a:ext cx="14732846" cy="9273467"/>
          </a:xfrm>
          <a:prstGeom prst="rect">
            <a:avLst/>
          </a:prstGeom>
        </p:spPr>
      </p:pic>
      <p:pic>
        <p:nvPicPr>
          <p:cNvPr id="14" name="Picture 13" descr="A graph with a red line&#10;&#10;AI-generated content may be incorrect.">
            <a:extLst>
              <a:ext uri="{FF2B5EF4-FFF2-40B4-BE49-F238E27FC236}">
                <a16:creationId xmlns:a16="http://schemas.microsoft.com/office/drawing/2014/main" id="{AA7D9F8D-1744-5921-42B1-14CA9D5F2F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3172" y="16820536"/>
            <a:ext cx="11880812" cy="79874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E4EC53-F62B-5E5B-D972-8DC4B108B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92464" y="14476985"/>
            <a:ext cx="14749993" cy="9273466"/>
          </a:xfrm>
          <a:prstGeom prst="rect">
            <a:avLst/>
          </a:prstGeom>
        </p:spPr>
      </p:pic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3095FA06-A837-CD7E-0852-840D6F17C2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8519403"/>
              </p:ext>
            </p:extLst>
          </p:nvPr>
        </p:nvGraphicFramePr>
        <p:xfrm>
          <a:off x="7168945" y="24958735"/>
          <a:ext cx="35073512" cy="7501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E85250C-1E0F-9E7A-7051-AE1F4B5491C0}"/>
              </a:ext>
            </a:extLst>
          </p:cNvPr>
          <p:cNvSpPr/>
          <p:nvPr/>
        </p:nvSpPr>
        <p:spPr>
          <a:xfrm>
            <a:off x="13630586" y="3573780"/>
            <a:ext cx="12791649" cy="12801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0BBEC5-5806-3123-2F62-04A0B6CCF433}"/>
              </a:ext>
            </a:extLst>
          </p:cNvPr>
          <p:cNvSpPr txBox="1"/>
          <p:nvPr/>
        </p:nvSpPr>
        <p:spPr>
          <a:xfrm>
            <a:off x="14097245" y="4252651"/>
            <a:ext cx="11978640" cy="1191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found a strong, but not perfect correlation between star ratings and written review sentiment (r=0.81)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consistently underrated genre was documentaries, while the most overrated was action movies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was little to no correlation (r=0.21) between a movie’s release year and it’s rating (star, sentiment, or delta)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Spider-Man 3 was found to be the most underrated movie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Sequels were consistently rated lower than the originals, but re-releases or re-masters often scored much higher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tool was able to recommend underrated movies, accomplishing the main goal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AFAADA-658C-9C75-8AC0-D98CC090A3F0}"/>
              </a:ext>
            </a:extLst>
          </p:cNvPr>
          <p:cNvSpPr/>
          <p:nvPr/>
        </p:nvSpPr>
        <p:spPr>
          <a:xfrm>
            <a:off x="445028" y="2240280"/>
            <a:ext cx="12791649" cy="13335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Problem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B81C2B-982B-B1F2-09B9-C754BD012358}"/>
              </a:ext>
            </a:extLst>
          </p:cNvPr>
          <p:cNvSpPr/>
          <p:nvPr/>
        </p:nvSpPr>
        <p:spPr>
          <a:xfrm>
            <a:off x="13630585" y="2240280"/>
            <a:ext cx="12791649" cy="13335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F4FD74-DB35-C9D8-9C13-05162F06C0F4}"/>
              </a:ext>
            </a:extLst>
          </p:cNvPr>
          <p:cNvSpPr/>
          <p:nvPr/>
        </p:nvSpPr>
        <p:spPr>
          <a:xfrm>
            <a:off x="445028" y="25901033"/>
            <a:ext cx="5498572" cy="502518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&amp; Process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C24F08-E9BE-737B-83CD-F984AB5B1F12}"/>
              </a:ext>
            </a:extLst>
          </p:cNvPr>
          <p:cNvSpPr txBox="1"/>
          <p:nvPr/>
        </p:nvSpPr>
        <p:spPr>
          <a:xfrm>
            <a:off x="541020" y="182880"/>
            <a:ext cx="303657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Different Movie Review Methods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CB3B0-556B-69B1-B564-3D5E5919BD6C}"/>
              </a:ext>
            </a:extLst>
          </p:cNvPr>
          <p:cNvSpPr txBox="1"/>
          <p:nvPr/>
        </p:nvSpPr>
        <p:spPr>
          <a:xfrm>
            <a:off x="29690625" y="697639"/>
            <a:ext cx="103708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Micah Gifford and Jacob Limerick</a:t>
            </a:r>
          </a:p>
        </p:txBody>
      </p:sp>
    </p:spTree>
    <p:extLst>
      <p:ext uri="{BB962C8B-B14F-4D97-AF65-F5344CB8AC3E}">
        <p14:creationId xmlns:p14="http://schemas.microsoft.com/office/powerpoint/2010/main" val="1066593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1122</TotalTime>
  <Words>322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Ditsch, Candace</dc:creator>
  <cp:lastModifiedBy>Limerick, Jacob</cp:lastModifiedBy>
  <cp:revision>15</cp:revision>
  <dcterms:created xsi:type="dcterms:W3CDTF">2023-12-07T21:05:17Z</dcterms:created>
  <dcterms:modified xsi:type="dcterms:W3CDTF">2025-10-23T15:03:52Z</dcterms:modified>
</cp:coreProperties>
</file>